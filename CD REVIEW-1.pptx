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786B-7166-A840-A4D7-8E686826C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528C37-2BC7-61B4-67BE-45435F7C8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8610A-0E36-FB54-AE24-63AB26011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46E3-605F-4649-AF14-322221BE5F1D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65075-C0B5-E5B0-64BD-E1F271EA3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759A2-C988-09BA-0AFC-1B60B3401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D5D5-BBEE-4E0B-A6A5-45BCEF1BB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66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E967F-5DEE-D644-E350-BC7963B54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F2E47-A384-8AB6-DBDB-74AFD0FAA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DF82C-9EFA-B04A-FDF3-2265F5175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46E3-605F-4649-AF14-322221BE5F1D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D9F35-0D42-3F83-4232-6AD61E371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29A9D-104F-8575-3ABA-3D4E1997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D5D5-BBEE-4E0B-A6A5-45BCEF1BB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53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9F1B-DCCD-B14D-E1C3-2BE818E6B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DB95E-11C3-0BA9-BE9E-0FED4DA65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111B5-67B5-452A-E784-EA221FE5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46E3-605F-4649-AF14-322221BE5F1D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9C2EC-8654-805B-E698-D8D1A06B9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D0597-6AED-1FE4-9113-92673A1D1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D5D5-BBEE-4E0B-A6A5-45BCEF1BB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894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5FE0-928C-660F-D302-2131C60F3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7739-9DCB-39DB-E656-7DA40B08B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1B702-0551-6E7C-8B55-EF6C6940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DD956-0F23-EA1D-66DF-F81EBD02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46E3-605F-4649-AF14-322221BE5F1D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C3A38-5892-62CB-598D-72188E713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B5C87-5214-C1EA-FBC8-EA1B466C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D5D5-BBEE-4E0B-A6A5-45BCEF1BB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676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A73C-F4E0-795B-FC16-EC92F345F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2490E-C094-8C66-DD22-9E5877679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1032C9-2C4F-9502-9154-ED2B3BF22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9EAE72-ED62-5C01-C2EC-184C7722A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07B5C-0DAF-7782-E362-9D79397C3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F445F1-0136-31F7-67B8-0BEF41116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46E3-605F-4649-AF14-322221BE5F1D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9ADCE1-5328-4300-7FD1-A19C0BB17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13F16F-654E-B116-9342-1E74DDCE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D5D5-BBEE-4E0B-A6A5-45BCEF1BB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163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DE723-04E8-E697-10BA-8F31ADE84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0D6AA8-BAAE-FC06-BA3D-5E90ADAD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46E3-605F-4649-AF14-322221BE5F1D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E8302-AB63-121E-565D-E427527C0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D01794-2E70-7A1D-8A52-1ED61F03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D5D5-BBEE-4E0B-A6A5-45BCEF1BB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5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7A1E6-8102-87C2-01BE-C98B46D5B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46E3-605F-4649-AF14-322221BE5F1D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372035-1311-1D0C-AB0F-911F78B16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8025B-9352-EDAF-2C34-FDDAB485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D5D5-BBEE-4E0B-A6A5-45BCEF1BB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54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123BE-465D-DF9F-6114-01AFD2339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6BD5D-EC7E-024D-489A-23F98D1C1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2AEF2-F2E1-86F7-419C-DB058A8E0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F77B2-074E-03E7-9C39-2CD76BE5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46E3-605F-4649-AF14-322221BE5F1D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F139E-E761-177F-7238-810FA2400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C9D6E-DD14-B356-D02B-D814C334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D5D5-BBEE-4E0B-A6A5-45BCEF1BB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095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15B9-4B0C-557F-C385-F31A955C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E07D7B-5D3F-56C0-A655-A3A7D5615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798C7-03B9-E691-82DD-298382719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5A4A5-A93F-7F5F-C9E9-2AD657DF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46E3-605F-4649-AF14-322221BE5F1D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4B947-7290-0518-56DD-FE17A0AFE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80DA9-6CB5-5240-01BE-51F4C6794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D5D5-BBEE-4E0B-A6A5-45BCEF1BB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4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F1F7C-7A9E-0561-4F34-D3DA8B8CC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D7D60-3229-5551-D357-639676982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D94AD-ED97-8BFB-2547-6D0382602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46E3-605F-4649-AF14-322221BE5F1D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5059-65AB-25D8-95AF-933E01826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D0144-9C7C-0BA6-8F83-C16CF2D9E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D5D5-BBEE-4E0B-A6A5-45BCEF1BB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504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D07FC-AD3D-37DD-AF28-F16C8DB7C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3AEEC-4B08-CF42-2080-AA7713F4F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DE9ED-9EDF-B1AF-80A5-F5BEEEA4C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46E3-605F-4649-AF14-322221BE5F1D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25E3B-53D4-465A-A2B8-50443977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0A40A-FF44-B9C8-406B-F317ACD0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D5D5-BBEE-4E0B-A6A5-45BCEF1BB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538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5D8CF-CA28-B61E-6774-624A8E39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50302-B8BD-240A-C4D9-8F577C32D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EAAB9-4295-0670-E783-0DC100747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246E3-605F-4649-AF14-322221BE5F1D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6024-4701-C35F-6A66-4AE9CFAD17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9C49D-B97E-61F0-EBE4-8C315E5A5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9D5D5-BBEE-4E0B-A6A5-45BCEF1BB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33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7D0506-946E-1978-CA06-CE3F7EB513BE}"/>
              </a:ext>
            </a:extLst>
          </p:cNvPr>
          <p:cNvSpPr txBox="1"/>
          <p:nvPr/>
        </p:nvSpPr>
        <p:spPr>
          <a:xfrm>
            <a:off x="1189703" y="409221"/>
            <a:ext cx="9645445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Interactive Finite Automata Generator: Regular Expression to                                                NFA and DFA</a:t>
            </a:r>
            <a:br>
              <a:rPr lang="en-US" sz="1600" dirty="0">
                <a:solidFill>
                  <a:srgbClr val="FF0000"/>
                </a:solidFill>
              </a:rPr>
            </a:br>
            <a:r>
              <a:rPr lang="en-US" sz="1600" dirty="0">
                <a:solidFill>
                  <a:srgbClr val="FF0000"/>
                </a:solidFill>
              </a:rPr>
              <a:t>                                                                                    Department of CSE</a:t>
            </a:r>
            <a:br>
              <a:rPr lang="en-US" sz="1600" dirty="0">
                <a:solidFill>
                  <a:srgbClr val="FF0000"/>
                </a:solidFill>
              </a:rPr>
            </a:br>
            <a:r>
              <a:rPr lang="en-US" sz="1600" dirty="0">
                <a:solidFill>
                  <a:srgbClr val="FF0000"/>
                </a:solidFill>
              </a:rPr>
              <a:t>                                                                 COURSE: COMPILER DESIGN –(24CS2235F)</a:t>
            </a:r>
            <a:br>
              <a:rPr lang="en-US" sz="1600" dirty="0">
                <a:solidFill>
                  <a:srgbClr val="FF0000"/>
                </a:solidFill>
              </a:rPr>
            </a:br>
            <a:r>
              <a:rPr lang="en-US" sz="1600" dirty="0">
                <a:solidFill>
                  <a:srgbClr val="FF0000"/>
                </a:solidFill>
              </a:rPr>
              <a:t>                                                                                         SECTION-5</a:t>
            </a:r>
            <a:br>
              <a:rPr lang="en-US" sz="1600" dirty="0">
                <a:solidFill>
                  <a:srgbClr val="FF0000"/>
                </a:solidFill>
              </a:rPr>
            </a:br>
            <a:br>
              <a:rPr lang="en-US" sz="1600" dirty="0">
                <a:solidFill>
                  <a:srgbClr val="FF0000"/>
                </a:solidFill>
              </a:rPr>
            </a:br>
            <a:r>
              <a:rPr lang="en-US" sz="1600" dirty="0">
                <a:solidFill>
                  <a:srgbClr val="FF0000"/>
                </a:solidFill>
              </a:rPr>
              <a:t>                                                                                             </a:t>
            </a:r>
            <a:r>
              <a:rPr lang="en-US" sz="1600" dirty="0"/>
              <a:t>Review-1</a:t>
            </a:r>
            <a:br>
              <a:rPr lang="en-US" sz="1600" dirty="0"/>
            </a:br>
            <a:r>
              <a:rPr lang="en-US" sz="1600" dirty="0"/>
              <a:t>                                                                                              </a:t>
            </a:r>
            <a:r>
              <a:rPr lang="en-US" sz="1600" dirty="0">
                <a:solidFill>
                  <a:schemeClr val="accent1"/>
                </a:solidFill>
              </a:rPr>
              <a:t>Team-12</a:t>
            </a:r>
            <a:br>
              <a:rPr lang="en-US" sz="1600" dirty="0">
                <a:solidFill>
                  <a:schemeClr val="accent1"/>
                </a:solidFill>
              </a:rPr>
            </a:br>
            <a:r>
              <a:rPr lang="en-US" sz="1600" dirty="0">
                <a:solidFill>
                  <a:schemeClr val="accent1"/>
                </a:solidFill>
              </a:rPr>
              <a:t>                                                        </a:t>
            </a:r>
            <a:r>
              <a:rPr lang="en-IN" sz="1600" dirty="0">
                <a:solidFill>
                  <a:srgbClr val="FF0000"/>
                </a:solidFill>
              </a:rPr>
              <a:t>Under the Guidance of</a:t>
            </a:r>
            <a:r>
              <a:rPr lang="en-US" sz="1600" dirty="0">
                <a:solidFill>
                  <a:srgbClr val="FF0000"/>
                </a:solidFill>
              </a:rPr>
              <a:t>: </a:t>
            </a:r>
            <a:r>
              <a:rPr lang="en-US" sz="1600" dirty="0" err="1">
                <a:solidFill>
                  <a:srgbClr val="FF0000"/>
                </a:solidFill>
              </a:rPr>
              <a:t>P.Krishna</a:t>
            </a:r>
            <a:r>
              <a:rPr lang="en-US" sz="1600" dirty="0">
                <a:solidFill>
                  <a:srgbClr val="FF0000"/>
                </a:solidFill>
              </a:rPr>
              <a:t> Kishore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                                                                                     </a:t>
            </a:r>
            <a:r>
              <a:rPr lang="en-US" sz="1600" dirty="0">
                <a:solidFill>
                  <a:srgbClr val="FF0000"/>
                </a:solidFill>
              </a:rPr>
              <a:t>Team Members</a:t>
            </a:r>
            <a:br>
              <a:rPr lang="en-US" sz="1600" dirty="0"/>
            </a:br>
            <a:r>
              <a:rPr lang="en-US" sz="1600" dirty="0"/>
              <a:t>                                                                                     2420030046-N.Lasya</a:t>
            </a:r>
            <a:br>
              <a:rPr lang="en-US" sz="1600" dirty="0"/>
            </a:br>
            <a:r>
              <a:rPr lang="en-US" sz="1600" dirty="0"/>
              <a:t>                                                                               2420030471-N.Nikitha Reddy</a:t>
            </a:r>
            <a:br>
              <a:rPr lang="en-US" sz="1600" dirty="0"/>
            </a:br>
            <a:r>
              <a:rPr lang="en-US" sz="1600" dirty="0"/>
              <a:t>                                                                                  2420030119-C.Akshara</a:t>
            </a:r>
            <a:br>
              <a:rPr lang="en-US" sz="1600" dirty="0"/>
            </a:br>
            <a:br>
              <a:rPr lang="en-IN" sz="1600" dirty="0"/>
            </a:br>
            <a:endParaRPr lang="en-IN" dirty="0"/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62E763EF-9DBF-FC73-3D97-A364360E4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495" y="4114752"/>
            <a:ext cx="3140157" cy="233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988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F8CC4-EEB1-B75A-A81E-BD44823E8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Introduction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77477-5129-A299-1FFA-E118C1E2A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348"/>
            <a:ext cx="10515600" cy="5106527"/>
          </a:xfrm>
        </p:spPr>
        <p:txBody>
          <a:bodyPr>
            <a:normAutofit fontScale="70000" lnSpcReduction="20000"/>
          </a:bodyPr>
          <a:lstStyle/>
          <a:p>
            <a:r>
              <a:rPr lang="en-IN" sz="3400" dirty="0"/>
              <a:t>Regular Expressions and Finite Automata are fundamental concepts in </a:t>
            </a:r>
            <a:r>
              <a:rPr lang="en-IN" sz="3400" b="1" dirty="0"/>
              <a:t>Compiler Design and Formal Language Theory</a:t>
            </a:r>
            <a:r>
              <a:rPr lang="en-IN" sz="3400" dirty="0"/>
              <a:t>. Regular Expressions provide a concise way to describe patterns, while Finite Automata provide a computational model for recognizing those patterns. The conversion of a Regular Expression into an NFA and subsequently into a DFA is an important process used in areas such as lexical analysis and pattern recognition.</a:t>
            </a:r>
          </a:p>
          <a:p>
            <a:r>
              <a:rPr lang="en-IN" sz="3400" dirty="0"/>
              <a:t>However, manually performing these conversions can be difficult to understand because they involve multiple states, transitions, epsilon transitions, epsilon closures, and state combinations.</a:t>
            </a:r>
          </a:p>
          <a:p>
            <a:r>
              <a:rPr lang="en-IN" sz="3400" dirty="0"/>
              <a:t>The proposed project, </a:t>
            </a:r>
            <a:r>
              <a:rPr lang="en-IN" sz="3400" b="1" dirty="0"/>
              <a:t>“Interactive Finite Automata Generator: Regular Expression to NFA and DFA,”</a:t>
            </a:r>
            <a:r>
              <a:rPr lang="en-IN" sz="3400" dirty="0"/>
              <a:t> is a web-based application that automates this conversion process. The user can enter a valid Regular Expression, and the system dynamically generates its corresponding NFA using </a:t>
            </a:r>
            <a:r>
              <a:rPr lang="en-IN" sz="3400" b="1" dirty="0"/>
              <a:t>Thompson’s Construction</a:t>
            </a:r>
            <a:r>
              <a:rPr lang="en-IN" sz="3400" dirty="0"/>
              <a:t> and converts the NFA into a DFA using </a:t>
            </a:r>
            <a:r>
              <a:rPr lang="en-IN" sz="3400" b="1" dirty="0"/>
              <a:t>Subset Construction</a:t>
            </a:r>
            <a:r>
              <a:rPr lang="en-IN" sz="3400" dirty="0"/>
              <a:t>.</a:t>
            </a:r>
          </a:p>
          <a:p>
            <a:r>
              <a:rPr lang="en-IN" sz="3400" dirty="0"/>
              <a:t>The application provides transition tables and interactive graphical visualizations of both NFA and DFA, allowing users to understand the conversion process clearly and interactively.</a:t>
            </a:r>
          </a:p>
          <a:p>
            <a:endParaRPr lang="en-IN" dirty="0"/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26683FD3-515A-BC7D-2552-7E8DD2DF7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870" y="-801889"/>
            <a:ext cx="3140157" cy="233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52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6E5E3-547E-EE4E-9565-D9B2010C6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Abstract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BFB76-8A7E-3541-3184-1648B995D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348"/>
            <a:ext cx="10515600" cy="4790615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The project </a:t>
            </a:r>
            <a:r>
              <a:rPr lang="en-IN" b="1" dirty="0"/>
              <a:t>“Interactive Finite Automata Generator: Regular Expression to NFA and DFA”</a:t>
            </a:r>
            <a:r>
              <a:rPr lang="en-IN" dirty="0"/>
              <a:t> is a web-based application developed to simplify the understanding of Regular Expressions and Finite Automata concepts in Compiler Design. The system allows users to enter a Regular Expression through an interactive user interface and automatically generates the corresponding NFA (Non-Deterministic Finite Automaton) and DFA (Deterministic Finite Automaton).</a:t>
            </a:r>
          </a:p>
          <a:p>
            <a:r>
              <a:rPr lang="en-IN" dirty="0"/>
              <a:t>The system first validates the given Regular Expression and converts it into postfix notation. It then uses </a:t>
            </a:r>
            <a:r>
              <a:rPr lang="en-IN" b="1" dirty="0"/>
              <a:t>Thompson’s Construction</a:t>
            </a:r>
            <a:r>
              <a:rPr lang="en-IN" dirty="0"/>
              <a:t> to generate the NFA and </a:t>
            </a:r>
            <a:r>
              <a:rPr lang="en-IN" b="1" dirty="0"/>
              <a:t>Subset Construction</a:t>
            </a:r>
            <a:r>
              <a:rPr lang="en-IN" dirty="0"/>
              <a:t> to convert the NFA into a DFA. The generated automata are presented through transition tables and interactive graphical visualizations, including start states, accepting states, transitions, and epsilon transitions.</a:t>
            </a:r>
          </a:p>
          <a:p>
            <a:r>
              <a:rPr lang="en-IN" dirty="0"/>
              <a:t>The application is developed using </a:t>
            </a:r>
            <a:r>
              <a:rPr lang="en-IN" b="1" dirty="0"/>
              <a:t>React and Vite for the frontend</a:t>
            </a:r>
            <a:r>
              <a:rPr lang="en-IN" dirty="0"/>
              <a:t> and </a:t>
            </a:r>
            <a:r>
              <a:rPr lang="en-IN" b="1" dirty="0"/>
              <a:t>Python Flask for the backend</a:t>
            </a:r>
            <a:r>
              <a:rPr lang="en-IN" dirty="0"/>
              <a:t>. The system supports common Regular Expression operators such as union (|), concatenation, Kleene star (*), plus (+), optional (?), and parentheses. Since the system is dynamic, users can enter different Regular Expressions without modifying the program. The project provides a practical learning platform for understanding </a:t>
            </a:r>
            <a:r>
              <a:rPr lang="en-IN" b="1" dirty="0"/>
              <a:t>Compiler Design, Regular Expressions, NFA, DFA, Thompson’s Construction, and Subset Construction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1D552FEC-7BA0-5D83-85D8-7E9DE5F5A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843" y="-722719"/>
            <a:ext cx="3140157" cy="233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575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102B-1717-4F88-A2B6-42F7958FE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Objectives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AB045-BB33-2760-B509-74D35BA63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The main objectives of the project are:</a:t>
            </a:r>
          </a:p>
          <a:p>
            <a:pPr lvl="0"/>
            <a:r>
              <a:rPr lang="en-IN" dirty="0"/>
              <a:t>To develop an </a:t>
            </a:r>
            <a:r>
              <a:rPr lang="en-IN" b="1" dirty="0"/>
              <a:t>interactive web-based tool</a:t>
            </a:r>
            <a:r>
              <a:rPr lang="en-IN" dirty="0"/>
              <a:t> for converting Regular Expressions into finite automata. </a:t>
            </a:r>
          </a:p>
          <a:p>
            <a:pPr lvl="0"/>
            <a:r>
              <a:rPr lang="en-IN" dirty="0"/>
              <a:t>To automatically generate an </a:t>
            </a:r>
            <a:r>
              <a:rPr lang="en-IN" b="1" dirty="0"/>
              <a:t>NFA using Thompson’s Construction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To convert the generated NFA into a </a:t>
            </a:r>
            <a:r>
              <a:rPr lang="en-IN" b="1" dirty="0"/>
              <a:t>DFA using Subset Construction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To provide </a:t>
            </a:r>
            <a:r>
              <a:rPr lang="en-IN" b="1" dirty="0"/>
              <a:t>dynamic Regular Expression input</a:t>
            </a:r>
            <a:r>
              <a:rPr lang="en-IN" dirty="0"/>
              <a:t> without requiring changes to the source code. </a:t>
            </a:r>
          </a:p>
          <a:p>
            <a:pPr lvl="0"/>
            <a:r>
              <a:rPr lang="en-IN" dirty="0"/>
              <a:t>To display NFA and DFA </a:t>
            </a:r>
            <a:r>
              <a:rPr lang="en-IN" b="1" dirty="0"/>
              <a:t>transition tables</a:t>
            </a:r>
            <a:r>
              <a:rPr lang="en-IN" dirty="0"/>
              <a:t> clearly. </a:t>
            </a:r>
          </a:p>
          <a:p>
            <a:pPr lvl="0"/>
            <a:r>
              <a:rPr lang="en-IN" dirty="0"/>
              <a:t>To provide interactive </a:t>
            </a:r>
            <a:r>
              <a:rPr lang="en-IN" b="1" dirty="0"/>
              <a:t>graphical visualizations</a:t>
            </a:r>
            <a:r>
              <a:rPr lang="en-IN" dirty="0"/>
              <a:t> of NFA and DFA states and transitions. </a:t>
            </a:r>
          </a:p>
          <a:p>
            <a:pPr lvl="0"/>
            <a:r>
              <a:rPr lang="en-IN" dirty="0"/>
              <a:t>To implement </a:t>
            </a:r>
            <a:r>
              <a:rPr lang="en-IN" b="1" dirty="0"/>
              <a:t>Regular Expression validation</a:t>
            </a:r>
            <a:r>
              <a:rPr lang="en-IN" dirty="0"/>
              <a:t> and provide meaningful error messages for invalid expressions. </a:t>
            </a:r>
          </a:p>
          <a:p>
            <a:pPr lvl="0"/>
            <a:r>
              <a:rPr lang="en-IN" dirty="0"/>
              <a:t>To help students understand important concepts such as </a:t>
            </a:r>
            <a:r>
              <a:rPr lang="en-IN" b="1" dirty="0"/>
              <a:t>epsilon transitions, epsilon closure, state transitions, and DFA state formation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To reduce the complexity of manually performing Regular Expression to NFA and DFA conversions. </a:t>
            </a:r>
          </a:p>
          <a:p>
            <a:pPr lvl="0"/>
            <a:r>
              <a:rPr lang="en-IN" dirty="0"/>
              <a:t>To provide an easy-to-use educational tool for </a:t>
            </a:r>
            <a:r>
              <a:rPr lang="en-IN" b="1" dirty="0"/>
              <a:t>Compiler Design and Formal Languages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3434086A-DE6B-C5B3-824E-09AF698A3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359" y="-722719"/>
            <a:ext cx="3140157" cy="233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29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B7795-4A77-D98A-DE8A-4E121668B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06" y="7420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Proposed Methodology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FA504-78D6-F527-1A76-DAFC960D6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897" y="1170039"/>
            <a:ext cx="10515600" cy="5279463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The proposed system follows a sequential conversion methodology:</a:t>
            </a:r>
          </a:p>
          <a:p>
            <a:pPr marL="0" indent="0">
              <a:buNone/>
            </a:pPr>
            <a:r>
              <a:rPr lang="en-IN" b="1" dirty="0"/>
              <a:t>Step 1: Regular Expression Input</a:t>
            </a:r>
          </a:p>
          <a:p>
            <a:r>
              <a:rPr lang="en-IN" dirty="0"/>
              <a:t>The user enters a Regular Expression through the web interface.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(</a:t>
            </a:r>
            <a:r>
              <a:rPr lang="en-IN" dirty="0" err="1"/>
              <a:t>a|b</a:t>
            </a:r>
            <a:r>
              <a:rPr lang="en-IN" dirty="0"/>
              <a:t>)*abb</a:t>
            </a:r>
          </a:p>
          <a:p>
            <a:r>
              <a:rPr lang="en-IN" dirty="0"/>
              <a:t>The system supports operators such as:</a:t>
            </a:r>
          </a:p>
          <a:p>
            <a:r>
              <a:rPr lang="en-IN" dirty="0"/>
              <a:t>|    Union</a:t>
            </a:r>
          </a:p>
          <a:p>
            <a:r>
              <a:rPr lang="en-IN" dirty="0"/>
              <a:t>.    Concatenation</a:t>
            </a:r>
          </a:p>
          <a:p>
            <a:r>
              <a:rPr lang="en-IN" dirty="0"/>
              <a:t>*    Kleene Star</a:t>
            </a:r>
          </a:p>
          <a:p>
            <a:r>
              <a:rPr lang="en-IN" dirty="0"/>
              <a:t>+    One or More</a:t>
            </a:r>
          </a:p>
          <a:p>
            <a:r>
              <a:rPr lang="en-IN" dirty="0"/>
              <a:t>?    Optional</a:t>
            </a:r>
          </a:p>
          <a:p>
            <a:r>
              <a:rPr lang="en-IN" dirty="0"/>
              <a:t>()   Grouping</a:t>
            </a:r>
          </a:p>
          <a:p>
            <a:pPr marL="0" indent="0">
              <a:buNone/>
            </a:pPr>
            <a:r>
              <a:rPr lang="en-IN" b="1" dirty="0"/>
              <a:t>Step 2: Regular Expression Validation</a:t>
            </a:r>
          </a:p>
          <a:p>
            <a:r>
              <a:rPr lang="en-IN" dirty="0"/>
              <a:t>The backend checks whether the entered Regular Expression is syntactically valid.</a:t>
            </a:r>
          </a:p>
          <a:p>
            <a:r>
              <a:rPr lang="en-IN" dirty="0"/>
              <a:t>It detects errors such as:</a:t>
            </a:r>
          </a:p>
          <a:p>
            <a:pPr lvl="0"/>
            <a:r>
              <a:rPr lang="en-IN" dirty="0"/>
              <a:t>Empty input </a:t>
            </a:r>
          </a:p>
          <a:p>
            <a:pPr lvl="0"/>
            <a:r>
              <a:rPr lang="en-IN" dirty="0"/>
              <a:t>Mismatched parentheses </a:t>
            </a:r>
          </a:p>
          <a:p>
            <a:pPr lvl="0"/>
            <a:r>
              <a:rPr lang="en-IN" dirty="0"/>
              <a:t>Invalid operators </a:t>
            </a:r>
          </a:p>
          <a:p>
            <a:pPr lvl="0"/>
            <a:r>
              <a:rPr lang="en-IN" dirty="0"/>
              <a:t>Incorrect operator placement </a:t>
            </a:r>
          </a:p>
          <a:p>
            <a:r>
              <a:rPr lang="en-IN" dirty="0"/>
              <a:t>If the expression is invalid, the system displays an appropriate error message.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ADA24A44-7FA2-A400-03DD-366AAFCBB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4695" y="-634228"/>
            <a:ext cx="3140157" cy="233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65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ABD72C-D944-6BBD-7CB7-EC6190FFC7D3}"/>
              </a:ext>
            </a:extLst>
          </p:cNvPr>
          <p:cNvSpPr txBox="1"/>
          <p:nvPr/>
        </p:nvSpPr>
        <p:spPr>
          <a:xfrm>
            <a:off x="698089" y="117693"/>
            <a:ext cx="1106129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3: Infix to Postfix Conversion</a:t>
            </a:r>
          </a:p>
          <a:p>
            <a:pPr>
              <a:buNone/>
            </a:pPr>
            <a:r>
              <a:rPr lang="en-IN" dirty="0"/>
              <a:t>The validated Regular Expression is converted from infix notation into postfix notation.</a:t>
            </a:r>
          </a:p>
          <a:p>
            <a:pPr>
              <a:buNone/>
            </a:pPr>
            <a:r>
              <a:rPr lang="en-IN" dirty="0"/>
              <a:t>For example: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(</a:t>
            </a:r>
            <a:r>
              <a:rPr lang="en-IN" dirty="0" err="1">
                <a:latin typeface="+mn-lt"/>
              </a:rPr>
              <a:t>a|b</a:t>
            </a:r>
            <a:r>
              <a:rPr lang="en-IN" dirty="0">
                <a:latin typeface="+mn-lt"/>
              </a:rPr>
              <a:t>)*abb</a:t>
            </a:r>
          </a:p>
          <a:p>
            <a:pPr>
              <a:buNone/>
            </a:pPr>
            <a:r>
              <a:rPr lang="en-IN" dirty="0"/>
              <a:t>is converted into an equivalent postfix expression.</a:t>
            </a:r>
          </a:p>
          <a:p>
            <a:pPr>
              <a:buNone/>
            </a:pPr>
            <a:r>
              <a:rPr lang="en-IN" dirty="0"/>
              <a:t>This makes it easier to process the expression algorithmically.</a:t>
            </a:r>
          </a:p>
          <a:p>
            <a:pPr>
              <a:buNone/>
            </a:pPr>
            <a:r>
              <a:rPr lang="en-IN" b="1" dirty="0"/>
              <a:t>Step 4: Thompson’s Construction</a:t>
            </a:r>
          </a:p>
          <a:p>
            <a:pPr>
              <a:buNone/>
            </a:pPr>
            <a:r>
              <a:rPr lang="en-IN" dirty="0"/>
              <a:t>The postfix Regular Expression is processed using </a:t>
            </a:r>
            <a:r>
              <a:rPr lang="en-IN" b="1" dirty="0"/>
              <a:t>Thompson’s Construction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The system creates NFA states and transitions for: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Symbols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Union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Concatenation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Kleene Star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Plus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Optional </a:t>
            </a:r>
          </a:p>
          <a:p>
            <a:pPr>
              <a:buNone/>
            </a:pPr>
            <a:r>
              <a:rPr lang="en-IN" dirty="0"/>
              <a:t>Epsilon (</a:t>
            </a:r>
            <a:r>
              <a:rPr lang="en-IN" dirty="0">
                <a:latin typeface="+mn-lt"/>
              </a:rPr>
              <a:t>ε</a:t>
            </a:r>
            <a:r>
              <a:rPr lang="en-IN" dirty="0"/>
              <a:t>) transitions are used wherever required.</a:t>
            </a:r>
          </a:p>
          <a:p>
            <a:pPr>
              <a:buNone/>
            </a:pPr>
            <a:r>
              <a:rPr lang="en-IN" b="1" dirty="0"/>
              <a:t>Step 5: NFA Generation</a:t>
            </a:r>
          </a:p>
          <a:p>
            <a:pPr>
              <a:buNone/>
            </a:pPr>
            <a:r>
              <a:rPr lang="en-IN" dirty="0"/>
              <a:t>The resulting NFA contains: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Start state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Intermediate states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Accepting state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Symbol transitions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Epsilon transitions </a:t>
            </a:r>
          </a:p>
          <a:p>
            <a:pPr>
              <a:buNone/>
            </a:pPr>
            <a:r>
              <a:rPr lang="en-IN" dirty="0"/>
              <a:t>The NFA transition table and graphical representation are then generated.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60009879-37F3-496E-D819-E64ABDBA1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527" y="-781713"/>
            <a:ext cx="3140157" cy="233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66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A8273C-D456-49EE-3735-255D1C723BA5}"/>
              </a:ext>
            </a:extLst>
          </p:cNvPr>
          <p:cNvSpPr txBox="1"/>
          <p:nvPr/>
        </p:nvSpPr>
        <p:spPr>
          <a:xfrm>
            <a:off x="560439" y="564105"/>
            <a:ext cx="1107112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6: Epsilon Closure</a:t>
            </a:r>
          </a:p>
          <a:p>
            <a:pPr>
              <a:buNone/>
            </a:pPr>
            <a:r>
              <a:rPr lang="en-IN" dirty="0"/>
              <a:t>For NFA-to-DFA conversion, the system calculates the </a:t>
            </a:r>
            <a:r>
              <a:rPr lang="en-IN" b="1" dirty="0"/>
              <a:t>epsilon closure</a:t>
            </a:r>
            <a:r>
              <a:rPr lang="en-IN" dirty="0"/>
              <a:t> of NFA states.</a:t>
            </a:r>
          </a:p>
          <a:p>
            <a:pPr>
              <a:buNone/>
            </a:pPr>
            <a:r>
              <a:rPr lang="en-IN" dirty="0"/>
              <a:t>The epsilon closure identifies all states reachable through epsilon transitions without consuming an input symbol.</a:t>
            </a:r>
          </a:p>
          <a:p>
            <a:pPr>
              <a:buNone/>
            </a:pPr>
            <a:r>
              <a:rPr lang="en-IN" b="1" dirty="0"/>
              <a:t>Step 7: Subset Construction</a:t>
            </a:r>
          </a:p>
          <a:p>
            <a:pPr>
              <a:buNone/>
            </a:pPr>
            <a:r>
              <a:rPr lang="en-IN" dirty="0"/>
              <a:t>The system uses </a:t>
            </a:r>
            <a:r>
              <a:rPr lang="en-IN" b="1" dirty="0"/>
              <a:t>Subset Construction</a:t>
            </a:r>
            <a:r>
              <a:rPr lang="en-IN" dirty="0"/>
              <a:t> to convert the NFA into a DFA.</a:t>
            </a:r>
          </a:p>
          <a:p>
            <a:pPr>
              <a:buNone/>
            </a:pPr>
            <a:r>
              <a:rPr lang="en-IN" dirty="0"/>
              <a:t>Each DFA state represents a set of NFA states.</a:t>
            </a:r>
          </a:p>
          <a:p>
            <a:pPr>
              <a:buNone/>
            </a:pPr>
            <a:r>
              <a:rPr lang="en-IN" dirty="0"/>
              <a:t>For example: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A = {q0, q1, q3}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B = {q2, q4}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 = {q5}</a:t>
            </a:r>
          </a:p>
          <a:p>
            <a:pPr>
              <a:buNone/>
            </a:pPr>
            <a:r>
              <a:rPr lang="en-IN" dirty="0"/>
              <a:t>The process continues until all possible DFA states and transitions are generated.</a:t>
            </a:r>
          </a:p>
          <a:p>
            <a:pPr>
              <a:buNone/>
            </a:pPr>
            <a:r>
              <a:rPr lang="en-IN" b="1" dirty="0"/>
              <a:t>Step 8: DFA Generation</a:t>
            </a:r>
            <a:endParaRPr lang="en-IN" b="1" dirty="0">
              <a:highlight>
                <a:srgbClr val="FFFF00"/>
              </a:highlight>
            </a:endParaRPr>
          </a:p>
          <a:p>
            <a:pPr>
              <a:buNone/>
            </a:pPr>
            <a:r>
              <a:rPr lang="en-IN" dirty="0"/>
              <a:t>The resulting DFA contains: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DFA start state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DFA states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DFA transitions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DFA accepting states </a:t>
            </a:r>
          </a:p>
          <a:p>
            <a:pPr>
              <a:buNone/>
            </a:pPr>
            <a:r>
              <a:rPr lang="en-IN" dirty="0"/>
              <a:t>The DFA transition table and graphical representation are displayed.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DFA68101-6E15-AE25-9C9B-79F9AC3CB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024" y="-913266"/>
            <a:ext cx="3140157" cy="233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10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725C6-2AD1-F38C-D675-E56BF80935D7}"/>
              </a:ext>
            </a:extLst>
          </p:cNvPr>
          <p:cNvSpPr txBox="1"/>
          <p:nvPr/>
        </p:nvSpPr>
        <p:spPr>
          <a:xfrm>
            <a:off x="521110" y="175053"/>
            <a:ext cx="1027470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9: Visualization</a:t>
            </a:r>
          </a:p>
          <a:p>
            <a:pPr>
              <a:buNone/>
            </a:pPr>
            <a:r>
              <a:rPr lang="en-IN" dirty="0"/>
              <a:t>The frontend displays the generated NFA and DFA as interactive graphs.</a:t>
            </a:r>
          </a:p>
          <a:p>
            <a:pPr>
              <a:buNone/>
            </a:pPr>
            <a:r>
              <a:rPr lang="en-IN" dirty="0"/>
              <a:t>Users can: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View states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View transitions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Identify start states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Identify accepting states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Zoom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Pan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Examine the automata structure 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FEA24E5F-A4E0-5009-5747-13F6157F7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8050" y="-727813"/>
            <a:ext cx="3140157" cy="233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35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C4139-BC67-6B70-3D5C-1872D8475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System Architecture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EB3E70-2D1C-88FE-02F8-2FFAEF2ED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231" y="1789471"/>
            <a:ext cx="7399935" cy="4998016"/>
          </a:xfrm>
          <a:prstGeom prst="rect">
            <a:avLst/>
          </a:prstGeom>
        </p:spPr>
      </p:pic>
      <p:pic>
        <p:nvPicPr>
          <p:cNvPr id="6" name="Picture 5" descr="MAPS &amp; DIRECTIONS - Best Private University in Telangana ...">
            <a:extLst>
              <a:ext uri="{FF2B5EF4-FFF2-40B4-BE49-F238E27FC236}">
                <a16:creationId xmlns:a16="http://schemas.microsoft.com/office/drawing/2014/main" id="{CC743841-3D6E-CA21-C9A3-04F93746F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366" y="-801889"/>
            <a:ext cx="3140157" cy="233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25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998</Words>
  <Application>Microsoft Office PowerPoint</Application>
  <PresentationFormat>Widescreen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Introduction</vt:lpstr>
      <vt:lpstr>Abstract</vt:lpstr>
      <vt:lpstr>Objectives</vt:lpstr>
      <vt:lpstr>Proposed Methodology</vt:lpstr>
      <vt:lpstr>PowerPoint Presentation</vt:lpstr>
      <vt:lpstr>PowerPoint Presentation</vt:lpstr>
      <vt:lpstr>PowerPoint Presentation</vt:lpstr>
      <vt:lpstr>System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akshara reddy</dc:creator>
  <cp:lastModifiedBy>akshara reddy</cp:lastModifiedBy>
  <cp:revision>1</cp:revision>
  <dcterms:created xsi:type="dcterms:W3CDTF">2026-09-19T04:56:59Z</dcterms:created>
  <dcterms:modified xsi:type="dcterms:W3CDTF">2026-09-19T05:09:51Z</dcterms:modified>
</cp:coreProperties>
</file>